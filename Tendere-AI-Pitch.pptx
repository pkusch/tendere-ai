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Tendere — Latin for 'to aim'. The whole pitch in one line: firms rank their bench; Tendere aims it. It finds who's closest to the work you'll win next and drafts the plan to close the gap. Open confident, land the tagline,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as cost + latency. Every bench day is pure margin lost. The six-week fix is a chain of manual handoffs on top of a stale skills database. Why-now line: AI is changing the skill mix faster than anyone can re-survey — so the manual approach is falling further behind.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reframe: ranking vs aiming. A leaderboard optimises the wrong thing. And 'no match' is not one problem — it's three (stale / missing / latent), each needing a different response. This sets up slides 5 and 6, where we show how Tendere actually distinguishes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moves, plain. This is the demo spine: paste a role, watch the bench get aimed, get the plan. Emphasise 'closest-fit, not highest-rank' — it's the philosophical difference from every skills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intellectual core. A single proficiency score is lossy — it can't distinguish deep-but-stale from shallow-but-current from capable-but-unproven. Three axes (level, recency, evidence) carry that information in the data itself, which is what makes the rest possible without a verification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payoff slide. The three-axis model resolves 'no match' into stale / genuine gap / latent — and crucially each implies a different, cheaper action. The genuine-gap card carries the firm-indictment hook (Tendere flags when there's no internal content to teach the skill), which we expand on slide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agentic core for the AI-hackathon judges: Claude does the genuinely-AI parts (parsing unstructured specs, a calibrated + cited second-opinion classifier). Key trust move — when the model and the deterministic rules disagree, it escalates to a human rather than silently picking. The closed loop keeps profiles honest over time. The stub means it always runs, even offline.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defensible differences. 'Works the runway' = anticipatory, not reactive. 'Aims at future demand' = strategic workforce planning, not checklist-matching. 'Indicts the firm' = the sharpest one: Tendere surfaces where the org has no way to build a needed skill — a capability-leadership signal no staffing tool produces.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Pre-empt the obvious 'is it really that fast?' challenge by reframing: the six weeks was never labour — it was elapsed time dominated by verification loops, sequential handoffs, and blank-page effort. Tendere removes all three sources of latency. Own the dependency honestly: the compression holds if the three-axis profiles are populated — which the closed loop maintains once running.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against the four things firms already have. The point isn't that competitors are bad — it's that they solve adjacent problems (storage, allocation, delivery). Tendere is the only thing that answers 'who's closest, and what's the plan' with the firm-side gap signal on 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Credibility slide. The 'one engine, two front doors' point matters — the Python engine and the React dashboard run the same logic, so the demo isn't a mockup. Deterministic + stub = it always runs, reproducibly, even offline. Built solo. Repo is public.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demo invitation and the tagline. Repo is the call to action — it's public, MIT, runs offline via the stub. End with 'stop ranking, start aiming' — the through-line of the whole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3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0"/>
            <a:ext cx="4663440" cy="4663440"/>
          </a:xfrm>
          <a:prstGeom prst="ellipse">
            <a:avLst/>
          </a:prstGeom>
          <a:solidFill>
            <a:srgbClr val="16130E">
              <a:alpha val="0"/>
            </a:srgbClr>
          </a:solidFill>
          <a:ln w="12700">
            <a:solidFill>
              <a:srgbClr val="E9A23B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548640"/>
            <a:ext cx="3566160" cy="3566160"/>
          </a:xfrm>
          <a:prstGeom prst="ellipse">
            <a:avLst/>
          </a:prstGeom>
          <a:solidFill>
            <a:srgbClr val="16130E">
              <a:alpha val="0"/>
            </a:srgbClr>
          </a:solidFill>
          <a:ln w="12700">
            <a:solidFill>
              <a:srgbClr val="E9A23B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19672" y="1033272"/>
            <a:ext cx="2596896" cy="2596896"/>
          </a:xfrm>
          <a:prstGeom prst="ellipse">
            <a:avLst/>
          </a:prstGeom>
          <a:solidFill>
            <a:srgbClr val="16130E">
              <a:alpha val="0"/>
            </a:srgbClr>
          </a:solidFill>
          <a:ln w="15875">
            <a:solidFill>
              <a:srgbClr val="E9A23B">
                <a:alpha val="5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1463040"/>
            <a:ext cx="1737360" cy="1737360"/>
          </a:xfrm>
          <a:prstGeom prst="ellipse">
            <a:avLst/>
          </a:prstGeom>
          <a:solidFill>
            <a:srgbClr val="16130E">
              <a:alpha val="0"/>
            </a:srgbClr>
          </a:solidFill>
          <a:ln w="19050">
            <a:solidFill>
              <a:srgbClr val="E9A23B">
                <a:alpha val="6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1828800"/>
            <a:ext cx="1005840" cy="1005840"/>
          </a:xfrm>
          <a:prstGeom prst="ellipse">
            <a:avLst/>
          </a:prstGeom>
          <a:solidFill>
            <a:srgbClr val="16130E">
              <a:alpha val="0"/>
            </a:srgbClr>
          </a:solidFill>
          <a:ln w="22225">
            <a:solidFill>
              <a:srgbClr val="E9A23B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49540" y="2263140"/>
            <a:ext cx="137160" cy="13716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AI AGENT HACKATHON EP5   ·   CONDUCT AI × IMPERIAL COLLEGE LONDON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30352" y="1417320"/>
            <a:ext cx="6949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Tendere</a:t>
            </a:r>
            <a:pPr indent="0" marL="0">
              <a:buNone/>
            </a:pPr>
            <a:r>
              <a:rPr lang="en-US" sz="60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AI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548640" y="24871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50" kern="0" dirty="0">
                <a:solidFill>
                  <a:srgbClr val="9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tendere  ·  Latin — to aim; to stretch toward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907792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 management that maps consultants to the work you'll win next —</a:t>
            </a:r>
            <a:endParaRPr lang="en-US" sz="16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leaderboard of who's “best.”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48640" y="3822192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i="1" dirty="0">
                <a:solidFill>
                  <a:srgbClr val="F3B9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ranking your bench.  Start aiming it.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566928" y="4498848"/>
            <a:ext cx="5669280" cy="0"/>
          </a:xfrm>
          <a:prstGeom prst="line">
            <a:avLst/>
          </a:prstGeom>
          <a:noFill/>
          <a:ln w="12700">
            <a:solidFill>
              <a:srgbClr val="332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590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9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Patti Kusch    ·    github.com/PKusch/tendere-ai    ·    MIT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3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554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6E6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TENDERE AI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0" y="485546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6E6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bench bleeds cash every day — and the fix takes six weeks.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3063240" cy="2487168"/>
          </a:xfrm>
          <a:prstGeom prst="roundRect">
            <a:avLst>
              <a:gd name="adj" fmla="val 3309"/>
            </a:avLst>
          </a:prstGeom>
          <a:solidFill>
            <a:srgbClr val="221E15"/>
          </a:solidFill>
          <a:ln w="9525">
            <a:solidFill>
              <a:srgbClr val="3A33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73736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7800" dirty="0"/>
          </a:p>
        </p:txBody>
      </p:sp>
      <p:sp>
        <p:nvSpPr>
          <p:cNvPr id="8" name="Text 6"/>
          <p:cNvSpPr/>
          <p:nvPr/>
        </p:nvSpPr>
        <p:spPr>
          <a:xfrm>
            <a:off x="502920" y="276148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" y="3127248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staff a role and close the skills gap by hand — re-reading CVs, emailing managers, waiting on L&amp;D.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22192" y="1664208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consultant rolls off, the clock starts — and every step is a queue.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3840480" y="2386584"/>
            <a:ext cx="100584" cy="100584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41648" y="2286000"/>
            <a:ext cx="4590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Resourcing — 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9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hunts the bench for a plausible match.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0" y="2962656"/>
            <a:ext cx="100584" cy="100584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41648" y="2862072"/>
            <a:ext cx="4590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leads — 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9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it by hand — the profile they're reading is self-reported and stale.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40480" y="3538728"/>
            <a:ext cx="100584" cy="100584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41648" y="3438144"/>
            <a:ext cx="4590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L&amp;D — 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9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an upskilling plan from a blank page.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0480" y="4160520"/>
            <a:ext cx="4791456" cy="0"/>
          </a:xfrm>
          <a:prstGeom prst="line">
            <a:avLst/>
          </a:prstGeom>
          <a:noFill/>
          <a:ln w="12700">
            <a:solidFill>
              <a:srgbClr val="332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4242816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AI is now rewriting which skills matter </a:t>
            </a:r>
            <a:pPr indent="0" marL="0">
              <a:lnSpc>
                <a:spcPct val="105000"/>
              </a:lnSpc>
              <a:buNone/>
            </a:pPr>
            <a:r>
              <a:rPr lang="en-US" sz="1300" b="1" i="1" dirty="0">
                <a:solidFill>
                  <a:srgbClr val="F3B9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any firm can re-survey its people.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3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554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6E6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TENDERE AI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0" y="485546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6E6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BLIND SPOT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keyword search gives you one answer: </a:t>
            </a:r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9A93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“no match.”</a:t>
            </a:r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Reality has three.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166420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rank people against a checklist. A leaderboard tells you who scores highest — </a:t>
            </a:r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F3B9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who's closest to the work.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39572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when someone “doesn't match,” that one phrase hides three completely different problems: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926080"/>
            <a:ext cx="2587752" cy="1417320"/>
          </a:xfrm>
          <a:prstGeom prst="roundRect">
            <a:avLst>
              <a:gd name="adj" fmla="val 5806"/>
            </a:avLst>
          </a:prstGeom>
          <a:solidFill>
            <a:srgbClr val="221E15"/>
          </a:solidFill>
          <a:ln w="9525">
            <a:solidFill>
              <a:srgbClr val="3A33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8952" y="3182112"/>
            <a:ext cx="182880" cy="18288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108960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Stale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58952" y="3584448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They've done it — but it's gone cold.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78124" y="2926080"/>
            <a:ext cx="2587752" cy="1417320"/>
          </a:xfrm>
          <a:prstGeom prst="roundRect">
            <a:avLst>
              <a:gd name="adj" fmla="val 5806"/>
            </a:avLst>
          </a:prstGeom>
          <a:solidFill>
            <a:srgbClr val="221E15"/>
          </a:solidFill>
          <a:ln w="9525">
            <a:solidFill>
              <a:srgbClr val="3A33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34156" y="3182112"/>
            <a:ext cx="182880" cy="182880"/>
          </a:xfrm>
          <a:prstGeom prst="ellipse">
            <a:avLst/>
          </a:prstGeom>
          <a:solidFill>
            <a:srgbClr val="DB6A56"/>
          </a:solidFill>
          <a:ln/>
        </p:spPr>
      </p:sp>
      <p:sp>
        <p:nvSpPr>
          <p:cNvPr id="14" name="Text 12"/>
          <p:cNvSpPr/>
          <p:nvPr/>
        </p:nvSpPr>
        <p:spPr>
          <a:xfrm>
            <a:off x="3826764" y="3108960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B6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534156" y="3584448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They've genuinely never done it.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53328" y="2926080"/>
            <a:ext cx="2587752" cy="1417320"/>
          </a:xfrm>
          <a:prstGeom prst="roundRect">
            <a:avLst>
              <a:gd name="adj" fmla="val 5806"/>
            </a:avLst>
          </a:prstGeom>
          <a:solidFill>
            <a:srgbClr val="221E15"/>
          </a:solidFill>
          <a:ln w="9525">
            <a:solidFill>
              <a:srgbClr val="3A33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3182112"/>
            <a:ext cx="182880" cy="182880"/>
          </a:xfrm>
          <a:prstGeom prst="ellipse">
            <a:avLst/>
          </a:prstGeom>
          <a:solidFill>
            <a:srgbClr val="86B892"/>
          </a:solidFill>
          <a:ln/>
        </p:spPr>
      </p:sp>
      <p:sp>
        <p:nvSpPr>
          <p:cNvPr id="18" name="Text 16"/>
          <p:cNvSpPr/>
          <p:nvPr/>
        </p:nvSpPr>
        <p:spPr>
          <a:xfrm>
            <a:off x="6601968" y="3108960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6B8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09360" y="3584448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 do it — they just can't prove it.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44988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word. Three different plans. Telling them apart is the whole game.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3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554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6E6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TENDERE AI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0" y="485546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6E6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role. Find who's closest. Draft the plan to close the gap.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2587752" cy="2148840"/>
          </a:xfrm>
          <a:prstGeom prst="roundRect">
            <a:avLst>
              <a:gd name="adj" fmla="val 3830"/>
            </a:avLst>
          </a:prstGeom>
          <a:solidFill>
            <a:srgbClr val="221E15"/>
          </a:solidFill>
          <a:ln w="9525">
            <a:solidFill>
              <a:srgbClr val="3A33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084832"/>
            <a:ext cx="457200" cy="45720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3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724912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role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3127248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parses a messy free-text spec into structured, weighted requirements.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278124" y="1783080"/>
            <a:ext cx="2587752" cy="2148840"/>
          </a:xfrm>
          <a:prstGeom prst="roundRect">
            <a:avLst>
              <a:gd name="adj" fmla="val 3830"/>
            </a:avLst>
          </a:prstGeom>
          <a:solidFill>
            <a:srgbClr val="221E15"/>
          </a:solidFill>
          <a:ln w="9525">
            <a:solidFill>
              <a:srgbClr val="3A33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52444" y="2084832"/>
            <a:ext cx="457200" cy="45720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3" name="Text 11"/>
          <p:cNvSpPr/>
          <p:nvPr/>
        </p:nvSpPr>
        <p:spPr>
          <a:xfrm>
            <a:off x="3552444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3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52444" y="2724912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 the bench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552444" y="3127248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consultant scored against real demand — closest-fit, not highest-rank.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53328" y="1783080"/>
            <a:ext cx="2587752" cy="2148840"/>
          </a:xfrm>
          <a:prstGeom prst="roundRect">
            <a:avLst>
              <a:gd name="adj" fmla="val 3830"/>
            </a:avLst>
          </a:prstGeom>
          <a:solidFill>
            <a:srgbClr val="221E15"/>
          </a:solidFill>
          <a:ln w="9525">
            <a:solidFill>
              <a:srgbClr val="3A33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27648" y="2084832"/>
            <a:ext cx="457200" cy="45720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8" name="Text 16"/>
          <p:cNvSpPr/>
          <p:nvPr/>
        </p:nvSpPr>
        <p:spPr>
          <a:xfrm>
            <a:off x="6327648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3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27648" y="2724912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the gap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327648" y="3127248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personalised upskilling plan, paced around their live client calendar.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41605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open role to a staffed, upskilling plan — </a:t>
            </a:r>
            <a:pPr algn="ctr" indent="0" marL="0">
              <a:buNone/>
            </a:pPr>
            <a:r>
              <a:rPr lang="en-US" sz="1500" b="1" i="1" dirty="0">
                <a:solidFill>
                  <a:srgbClr val="F3B9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afternoon.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3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554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6E6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TENDERE AI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0" y="485546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6E6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score hides the truth. Tendere models every skill on three axes.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2926080" cy="2331720"/>
          </a:xfrm>
          <a:prstGeom prst="roundRect">
            <a:avLst>
              <a:gd name="adj" fmla="val 3529"/>
            </a:avLst>
          </a:prstGeom>
          <a:solidFill>
            <a:srgbClr val="1C190F"/>
          </a:solidFill>
          <a:ln w="9525">
            <a:solidFill>
              <a:srgbClr val="3A33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9751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E6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Proficiency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57860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6E68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7/10</a:t>
            </a:r>
            <a:endParaRPr lang="en-US" sz="6200" dirty="0"/>
          </a:p>
        </p:txBody>
      </p:sp>
      <p:sp>
        <p:nvSpPr>
          <p:cNvPr id="10" name="Shape 8"/>
          <p:cNvSpPr/>
          <p:nvPr/>
        </p:nvSpPr>
        <p:spPr>
          <a:xfrm>
            <a:off x="713232" y="3054096"/>
            <a:ext cx="2148840" cy="0"/>
          </a:xfrm>
          <a:prstGeom prst="line">
            <a:avLst/>
          </a:prstGeom>
          <a:noFill/>
          <a:ln w="31750">
            <a:solidFill>
              <a:srgbClr val="DB6A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52958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i="1" dirty="0">
                <a:solidFill>
                  <a:srgbClr val="DB6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Deep? Current? Provable? One number can't say.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75888" y="1847088"/>
            <a:ext cx="4956048" cy="713232"/>
          </a:xfrm>
          <a:prstGeom prst="roundRect">
            <a:avLst>
              <a:gd name="adj" fmla="val 11538"/>
            </a:avLst>
          </a:prstGeom>
          <a:solidFill>
            <a:srgbClr val="221E15"/>
          </a:solidFill>
          <a:ln w="9525">
            <a:solidFill>
              <a:srgbClr val="3A33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913632" y="1938528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257800" y="193852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9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deep the capability runs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699248" y="2157984"/>
            <a:ext cx="118872" cy="118872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82128" y="2157984"/>
            <a:ext cx="118872" cy="118872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65008" y="2157984"/>
            <a:ext cx="118872" cy="118872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47888" y="2157984"/>
            <a:ext cx="118872" cy="118872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30768" y="2157984"/>
            <a:ext cx="118872" cy="118872"/>
          </a:xfrm>
          <a:prstGeom prst="ellipse">
            <a:avLst/>
          </a:prstGeom>
          <a:solidFill>
            <a:srgbClr val="16130E">
              <a:alpha val="0"/>
            </a:srgbClr>
          </a:solidFill>
          <a:ln w="12700">
            <a:solidFill>
              <a:srgbClr val="6E685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75888" y="2670048"/>
            <a:ext cx="4956048" cy="713232"/>
          </a:xfrm>
          <a:prstGeom prst="roundRect">
            <a:avLst>
              <a:gd name="adj" fmla="val 11538"/>
            </a:avLst>
          </a:prstGeom>
          <a:solidFill>
            <a:srgbClr val="221E15"/>
          </a:solidFill>
          <a:ln w="9525">
            <a:solidFill>
              <a:srgbClr val="3A33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913632" y="2761488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Recency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257800" y="276148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9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current it is — skills decay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699248" y="2980944"/>
            <a:ext cx="118872" cy="118872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82128" y="2980944"/>
            <a:ext cx="118872" cy="118872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65008" y="2980944"/>
            <a:ext cx="118872" cy="118872"/>
          </a:xfrm>
          <a:prstGeom prst="ellipse">
            <a:avLst/>
          </a:prstGeom>
          <a:solidFill>
            <a:srgbClr val="16130E">
              <a:alpha val="0"/>
            </a:srgbClr>
          </a:solidFill>
          <a:ln w="12700">
            <a:solidFill>
              <a:srgbClr val="6E685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47888" y="2980944"/>
            <a:ext cx="118872" cy="118872"/>
          </a:xfrm>
          <a:prstGeom prst="ellipse">
            <a:avLst/>
          </a:prstGeom>
          <a:solidFill>
            <a:srgbClr val="16130E">
              <a:alpha val="0"/>
            </a:srgbClr>
          </a:solidFill>
          <a:ln w="12700">
            <a:solidFill>
              <a:srgbClr val="6E685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30768" y="2980944"/>
            <a:ext cx="118872" cy="118872"/>
          </a:xfrm>
          <a:prstGeom prst="ellipse">
            <a:avLst/>
          </a:prstGeom>
          <a:solidFill>
            <a:srgbClr val="16130E">
              <a:alpha val="0"/>
            </a:srgbClr>
          </a:solidFill>
          <a:ln w="12700">
            <a:solidFill>
              <a:srgbClr val="6E685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75888" y="3493008"/>
            <a:ext cx="4956048" cy="713232"/>
          </a:xfrm>
          <a:prstGeom prst="roundRect">
            <a:avLst>
              <a:gd name="adj" fmla="val 11538"/>
            </a:avLst>
          </a:prstGeom>
          <a:solidFill>
            <a:srgbClr val="221E15"/>
          </a:solidFill>
          <a:ln w="9525">
            <a:solidFill>
              <a:srgbClr val="3A33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913632" y="3584448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5257800" y="358444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9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provable it is — claimed ≠ shown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699248" y="3803904"/>
            <a:ext cx="118872" cy="118872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82128" y="3803904"/>
            <a:ext cx="118872" cy="118872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65008" y="3803904"/>
            <a:ext cx="118872" cy="118872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47888" y="3803904"/>
            <a:ext cx="118872" cy="118872"/>
          </a:xfrm>
          <a:prstGeom prst="ellipse">
            <a:avLst/>
          </a:prstGeom>
          <a:solidFill>
            <a:srgbClr val="16130E">
              <a:alpha val="0"/>
            </a:srgbClr>
          </a:solidFill>
          <a:ln w="12700">
            <a:solidFill>
              <a:srgbClr val="6E685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30768" y="3803904"/>
            <a:ext cx="118872" cy="118872"/>
          </a:xfrm>
          <a:prstGeom prst="ellipse">
            <a:avLst/>
          </a:prstGeom>
          <a:solidFill>
            <a:srgbClr val="16130E">
              <a:alpha val="0"/>
            </a:srgbClr>
          </a:solidFill>
          <a:ln w="12700">
            <a:solidFill>
              <a:srgbClr val="6E685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75888" y="437083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axes are what let Tendere tell apart three gaps </a:t>
            </a:r>
            <a:pPr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3B9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keyword search collapses into one.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3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554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6E6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TENDERE AI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0" y="485546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6E6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GAP, RESOLVED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“No match” is three different problems — each needs a different move.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2587752" cy="2377440"/>
          </a:xfrm>
          <a:prstGeom prst="roundRect">
            <a:avLst>
              <a:gd name="adj" fmla="val 3462"/>
            </a:avLst>
          </a:prstGeom>
          <a:solidFill>
            <a:srgbClr val="221E15"/>
          </a:solidFill>
          <a:ln w="9525">
            <a:solidFill>
              <a:srgbClr val="3A33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975104"/>
            <a:ext cx="237744" cy="237744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8" name="Text 6"/>
          <p:cNvSpPr/>
          <p:nvPr/>
        </p:nvSpPr>
        <p:spPr>
          <a:xfrm>
            <a:off x="1124712" y="1901952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Stale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777240" y="2359152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it. Gone cold.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2724912"/>
            <a:ext cx="2039112" cy="0"/>
          </a:xfrm>
          <a:prstGeom prst="line">
            <a:avLst/>
          </a:prstGeom>
          <a:noFill/>
          <a:ln w="12700">
            <a:solidFill>
              <a:srgbClr val="332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798064"/>
            <a:ext cx="20848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move —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refresher, not a rebuild.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3767328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Days, not weeks.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78124" y="1737360"/>
            <a:ext cx="2587752" cy="2377440"/>
          </a:xfrm>
          <a:prstGeom prst="roundRect">
            <a:avLst>
              <a:gd name="adj" fmla="val 3462"/>
            </a:avLst>
          </a:prstGeom>
          <a:solidFill>
            <a:srgbClr val="221E15"/>
          </a:solidFill>
          <a:ln w="9525">
            <a:solidFill>
              <a:srgbClr val="3A33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52444" y="1975104"/>
            <a:ext cx="237744" cy="237744"/>
          </a:xfrm>
          <a:prstGeom prst="ellipse">
            <a:avLst/>
          </a:prstGeom>
          <a:solidFill>
            <a:srgbClr val="DB6A56"/>
          </a:solidFill>
          <a:ln/>
        </p:spPr>
      </p:sp>
      <p:sp>
        <p:nvSpPr>
          <p:cNvPr id="15" name="Text 13"/>
          <p:cNvSpPr/>
          <p:nvPr/>
        </p:nvSpPr>
        <p:spPr>
          <a:xfrm>
            <a:off x="3899916" y="1901952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DB6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Genuine gap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3552444" y="2359152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done it.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552444" y="2724912"/>
            <a:ext cx="2039112" cy="0"/>
          </a:xfrm>
          <a:prstGeom prst="line">
            <a:avLst/>
          </a:prstGeom>
          <a:noFill/>
          <a:ln w="12700">
            <a:solidFill>
              <a:srgbClr val="332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52444" y="2798064"/>
            <a:ext cx="20848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DB6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move —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learning — and Tendere flags when the firm itself has no content to teach it.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552444" y="3767328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B6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or buy the capability.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53328" y="1737360"/>
            <a:ext cx="2587752" cy="2377440"/>
          </a:xfrm>
          <a:prstGeom prst="roundRect">
            <a:avLst>
              <a:gd name="adj" fmla="val 3462"/>
            </a:avLst>
          </a:prstGeom>
          <a:solidFill>
            <a:srgbClr val="221E15"/>
          </a:solidFill>
          <a:ln w="9525">
            <a:solidFill>
              <a:srgbClr val="3A33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27648" y="1975104"/>
            <a:ext cx="237744" cy="237744"/>
          </a:xfrm>
          <a:prstGeom prst="ellipse">
            <a:avLst/>
          </a:prstGeom>
          <a:solidFill>
            <a:srgbClr val="86B892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1901952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86B8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Latent strength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6327648" y="2359152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do it. Can't prove it.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27648" y="2724912"/>
            <a:ext cx="2039112" cy="0"/>
          </a:xfrm>
          <a:prstGeom prst="line">
            <a:avLst/>
          </a:prstGeom>
          <a:noFill/>
          <a:ln w="12700">
            <a:solidFill>
              <a:srgbClr val="332E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7648" y="2798064"/>
            <a:ext cx="20848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86B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move —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not training.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27648" y="3767328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6B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the hidden skill.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" y="437083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word — “gap.”  Three completely different plans.  </a:t>
            </a:r>
            <a:pPr algn="ctr" indent="0" marL="0">
              <a:buNone/>
            </a:pPr>
            <a:r>
              <a:rPr lang="en-US" sz="1300" b="1" i="1" dirty="0">
                <a:solidFill>
                  <a:srgbClr val="F3B9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distinction is the product.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3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554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6E6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TENDERE AI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0" y="485546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6E6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pipeline, not a black box — with a human on the hard calls.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02920" y="1719072"/>
            <a:ext cx="1911096" cy="1975104"/>
          </a:xfrm>
          <a:prstGeom prst="roundRect">
            <a:avLst>
              <a:gd name="adj" fmla="val 4306"/>
            </a:avLst>
          </a:prstGeom>
          <a:solidFill>
            <a:srgbClr val="221E15"/>
          </a:solidFill>
          <a:ln w="9525">
            <a:solidFill>
              <a:srgbClr val="3A33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04088" y="1920240"/>
            <a:ext cx="384048" cy="384048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3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79576" y="192024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04088" y="2395728"/>
            <a:ext cx="152704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turns a free-text spec into structured, weighted requirements.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81351" y="1719072"/>
            <a:ext cx="1911096" cy="1975104"/>
          </a:xfrm>
          <a:prstGeom prst="roundRect">
            <a:avLst>
              <a:gd name="adj" fmla="val 4306"/>
            </a:avLst>
          </a:prstGeom>
          <a:solidFill>
            <a:srgbClr val="221E15"/>
          </a:solidFill>
          <a:ln w="9525">
            <a:solidFill>
              <a:srgbClr val="3A33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82519" y="1920240"/>
            <a:ext cx="384048" cy="384048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3" name="Text 11"/>
          <p:cNvSpPr/>
          <p:nvPr/>
        </p:nvSpPr>
        <p:spPr>
          <a:xfrm>
            <a:off x="2782519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3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58007" y="192024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782519" y="2395728"/>
            <a:ext cx="152704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bench profile matched on all three axes against real demand.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59782" y="1719072"/>
            <a:ext cx="1911096" cy="1975104"/>
          </a:xfrm>
          <a:prstGeom prst="roundRect">
            <a:avLst>
              <a:gd name="adj" fmla="val 4306"/>
            </a:avLst>
          </a:prstGeom>
          <a:solidFill>
            <a:srgbClr val="221E15"/>
          </a:solidFill>
          <a:ln w="9525">
            <a:solidFill>
              <a:srgbClr val="3A33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60950" y="1920240"/>
            <a:ext cx="384048" cy="384048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8" name="Text 16"/>
          <p:cNvSpPr/>
          <p:nvPr/>
        </p:nvSpPr>
        <p:spPr>
          <a:xfrm>
            <a:off x="486095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3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36438" y="192024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860950" y="2395728"/>
            <a:ext cx="152704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calibrated, cited second opinion per gap. Model/rules disagreements go to a human — never resolved silently.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38214" y="1719072"/>
            <a:ext cx="1911096" cy="1975104"/>
          </a:xfrm>
          <a:prstGeom prst="roundRect">
            <a:avLst>
              <a:gd name="adj" fmla="val 4306"/>
            </a:avLst>
          </a:prstGeom>
          <a:solidFill>
            <a:srgbClr val="221E15"/>
          </a:solidFill>
          <a:ln w="9525">
            <a:solidFill>
              <a:srgbClr val="3A33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39382" y="1920240"/>
            <a:ext cx="384048" cy="384048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23" name="Text 21"/>
          <p:cNvSpPr/>
          <p:nvPr/>
        </p:nvSpPr>
        <p:spPr>
          <a:xfrm>
            <a:off x="6939382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3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414870" y="192024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939382" y="2395728"/>
            <a:ext cx="152704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upskilling plan drafted against the consultant's live client calendar.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3840480"/>
            <a:ext cx="8138160" cy="566928"/>
          </a:xfrm>
          <a:prstGeom prst="roundRect">
            <a:avLst>
              <a:gd name="adj" fmla="val 12903"/>
            </a:avLst>
          </a:prstGeom>
          <a:solidFill>
            <a:srgbClr val="2A2213"/>
          </a:solidFill>
          <a:ln w="9525">
            <a:solidFill>
              <a:srgbClr val="8A7A50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986784"/>
            <a:ext cx="274320" cy="27432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115568" y="384048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loop —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work is credited back (Workday write-back): </a:t>
            </a:r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3B9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→ current,  self-taught → evidenced.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502920" y="44988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key? A deterministic stub stands in — Tendere runs fully offline and the demo never dies.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3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554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6E6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TENDERE AI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0" y="485546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6E6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DIFFERENT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Anticipatory. Honest about the firm. Human where it counts.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2587752" cy="2286000"/>
          </a:xfrm>
          <a:prstGeom prst="roundRect">
            <a:avLst>
              <a:gd name="adj" fmla="val 3600"/>
            </a:avLst>
          </a:prstGeom>
          <a:solidFill>
            <a:srgbClr val="221E15"/>
          </a:solidFill>
          <a:ln w="9525">
            <a:solidFill>
              <a:srgbClr val="3A33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029968"/>
            <a:ext cx="566928" cy="566928"/>
          </a:xfrm>
          <a:prstGeom prst="ellipse">
            <a:avLst/>
          </a:prstGeom>
          <a:solidFill>
            <a:srgbClr val="2A2213"/>
          </a:solidFill>
          <a:ln w="9525">
            <a:solidFill>
              <a:srgbClr val="8A7A5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157984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724912"/>
            <a:ext cx="2084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 the runway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77240" y="3310128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start before someone rolls off — paced to their real calendar, not scrambled the day the bench fills.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278124" y="1783080"/>
            <a:ext cx="2587752" cy="2286000"/>
          </a:xfrm>
          <a:prstGeom prst="roundRect">
            <a:avLst>
              <a:gd name="adj" fmla="val 3600"/>
            </a:avLst>
          </a:prstGeom>
          <a:solidFill>
            <a:srgbClr val="221E15"/>
          </a:solidFill>
          <a:ln w="9525">
            <a:solidFill>
              <a:srgbClr val="3A33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52444" y="2029968"/>
            <a:ext cx="566928" cy="566928"/>
          </a:xfrm>
          <a:prstGeom prst="ellipse">
            <a:avLst/>
          </a:prstGeom>
          <a:solidFill>
            <a:srgbClr val="2A2213"/>
          </a:solidFill>
          <a:ln w="9525">
            <a:solidFill>
              <a:srgbClr val="8A7A5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2157984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52444" y="2724912"/>
            <a:ext cx="2084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Aims at future demand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3552444" y="3310128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the scarce skills the firm will sell next — AI, cloud, regulated-FS clearance — not just today's checklist.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053328" y="1783080"/>
            <a:ext cx="2587752" cy="2286000"/>
          </a:xfrm>
          <a:prstGeom prst="roundRect">
            <a:avLst>
              <a:gd name="adj" fmla="val 3600"/>
            </a:avLst>
          </a:prstGeom>
          <a:solidFill>
            <a:srgbClr val="221E15"/>
          </a:solidFill>
          <a:ln w="9525">
            <a:solidFill>
              <a:srgbClr val="3A33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27648" y="2029968"/>
            <a:ext cx="566928" cy="566928"/>
          </a:xfrm>
          <a:prstGeom prst="ellipse">
            <a:avLst/>
          </a:prstGeom>
          <a:solidFill>
            <a:srgbClr val="2A2213"/>
          </a:solidFill>
          <a:ln w="9525">
            <a:solidFill>
              <a:srgbClr val="8A7A5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2157984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27648" y="2724912"/>
            <a:ext cx="2084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Indicts the firm, not the person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6327648" y="3310128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Unmet demand with no internal content is escalated to capability leadership as a provision gap.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02920" y="431596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doesn't just fill a role. </a:t>
            </a:r>
            <a:pPr algn="ctr" indent="0" marL="0">
              <a:buNone/>
            </a:pPr>
            <a:r>
              <a:rPr lang="en-US" sz="1400" b="1" i="1" dirty="0">
                <a:solidFill>
                  <a:srgbClr val="F3B9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tells the firm what it can't yet teach.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3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554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6E6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TENDERE AI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0" y="485546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6E6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COMPRESSION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weeks was never six weeks of work. It was latency.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2587752" cy="1755648"/>
          </a:xfrm>
          <a:prstGeom prst="roundRect">
            <a:avLst>
              <a:gd name="adj" fmla="val 4688"/>
            </a:avLst>
          </a:prstGeom>
          <a:solidFill>
            <a:srgbClr val="221E15"/>
          </a:solidFill>
          <a:ln w="9525">
            <a:solidFill>
              <a:srgbClr val="3A33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938528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verification loop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77240" y="2542032"/>
            <a:ext cx="20848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Staleness is encoded in the data. “Is it current? Can she prove it?” is a field — not a week of emails.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78124" y="1737360"/>
            <a:ext cx="2587752" cy="1755648"/>
          </a:xfrm>
          <a:prstGeom prst="roundRect">
            <a:avLst>
              <a:gd name="adj" fmla="val 4688"/>
            </a:avLst>
          </a:prstGeom>
          <a:solidFill>
            <a:srgbClr val="221E15"/>
          </a:solidFill>
          <a:ln w="9525">
            <a:solidFill>
              <a:srgbClr val="3A33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52444" y="1938528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sequential handoffs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552444" y="2542032"/>
            <a:ext cx="20848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Resourcing → capability → L&amp;D was five stacked queues. Tendere runs them in a single pass.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53328" y="1737360"/>
            <a:ext cx="2587752" cy="1755648"/>
          </a:xfrm>
          <a:prstGeom prst="roundRect">
            <a:avLst>
              <a:gd name="adj" fmla="val 4688"/>
            </a:avLst>
          </a:prstGeom>
          <a:solidFill>
            <a:srgbClr val="221E15"/>
          </a:solidFill>
          <a:ln w="9525">
            <a:solidFill>
              <a:srgbClr val="3A33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27648" y="1938528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blank page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327648" y="2542032"/>
            <a:ext cx="20848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reviews a drafted plan, not an empty document. Effort goes to judgement, not typing.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712464"/>
            <a:ext cx="8138160" cy="896112"/>
          </a:xfrm>
          <a:prstGeom prst="roundRect">
            <a:avLst>
              <a:gd name="adj" fmla="val 9184"/>
            </a:avLst>
          </a:prstGeom>
          <a:solidFill>
            <a:srgbClr val="2A2213"/>
          </a:solidFill>
          <a:ln w="9525">
            <a:solidFill>
              <a:srgbClr val="8A7A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3712464"/>
            <a:ext cx="7589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6E68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weeks</a:t>
            </a:r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3B9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afternoon.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What's left for a human: the ~5% of hard calls the model flags — not 100% of them.</a:t>
            </a:r>
            <a:endParaRPr lang="en-US" sz="2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3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554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6E6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TENDERE AI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0" y="485546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6E6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stores skills. Nobody aims them.</a:t>
            </a:r>
            <a:endParaRPr lang="en-US" sz="2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72768"/>
          <a:ext cx="81381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097280"/>
                <a:gridCol w="1097280"/>
                <a:gridCol w="1097280"/>
                <a:gridCol w="1097280"/>
                <a:gridCol w="1097280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9A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Tendere 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A93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 DB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A93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Staffing sheet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A93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A93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LLM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0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Three-axis skill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9A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A7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8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8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A7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1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Tells stale vs missing vs latent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9A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8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8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8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A7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1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Aims at future demand, not checklist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9A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8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8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8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A7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1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 the firm's own content gaps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9A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8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8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8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8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1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paced to the real calendar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9A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8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A7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8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8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1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Closes the loop (write-back)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9A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A7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8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A7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8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1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Calibrated AI + human check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9A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8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8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8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8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1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4443984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b="1" i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databases </a:t>
            </a:r>
            <a:pPr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9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record.  </a:t>
            </a:r>
            <a:pPr indent="0" marL="0">
              <a:lnSpc>
                <a:spcPct val="106000"/>
              </a:lnSpc>
              <a:buNone/>
            </a:pPr>
            <a:r>
              <a:rPr lang="en-US" sz="1200" b="1" i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sheets </a:t>
            </a:r>
            <a:pPr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9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allocate.  </a:t>
            </a:r>
            <a:pPr indent="0" marL="0">
              <a:lnSpc>
                <a:spcPct val="106000"/>
              </a:lnSpc>
              <a:buNone/>
            </a:pPr>
            <a:r>
              <a:rPr lang="en-US" sz="1200" b="1" i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LMS </a:t>
            </a:r>
            <a:pPr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9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courses.  </a:t>
            </a:r>
            <a:pPr indent="0" marL="0">
              <a:lnSpc>
                <a:spcPct val="106000"/>
              </a:lnSpc>
              <a:buNone/>
            </a:pPr>
            <a:r>
              <a:rPr lang="en-US" sz="1200" b="1" i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generic LLM </a:t>
            </a:r>
            <a:pPr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9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guesses.  None tell you who's </a:t>
            </a:r>
            <a:pPr indent="0" marL="0">
              <a:lnSpc>
                <a:spcPct val="106000"/>
              </a:lnSpc>
              <a:buNone/>
            </a:pPr>
            <a:r>
              <a:rPr lang="en-US" sz="1200" b="1" i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</a:t>
            </a:r>
            <a:pPr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9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lnSpc>
                <a:spcPct val="106000"/>
              </a:lnSpc>
              <a:buNone/>
            </a:pPr>
            <a:r>
              <a:rPr lang="en-US" sz="1200" b="1" i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about it.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3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554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6E6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TENDERE AI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0" y="485546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6E6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BUILT IT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engine. Two front doors. No black box.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2587752" cy="2194560"/>
          </a:xfrm>
          <a:prstGeom prst="roundRect">
            <a:avLst>
              <a:gd name="adj" fmla="val 3750"/>
            </a:avLst>
          </a:prstGeom>
          <a:solidFill>
            <a:srgbClr val="221E15"/>
          </a:solidFill>
          <a:ln w="9525">
            <a:solidFill>
              <a:srgbClr val="3A33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01168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engine.py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77240" y="2487168"/>
            <a:ext cx="2039112" cy="0"/>
          </a:xfrm>
          <a:prstGeom prst="line">
            <a:avLst/>
          </a:prstGeom>
          <a:noFill/>
          <a:ln w="12700">
            <a:solidFill>
              <a:srgbClr val="332E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78608"/>
            <a:ext cx="208483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parse → score → classify → plan pipeline in Python. Deterministic — same inputs, same output, every run.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78124" y="1783080"/>
            <a:ext cx="2587752" cy="2194560"/>
          </a:xfrm>
          <a:prstGeom prst="roundRect">
            <a:avLst>
              <a:gd name="adj" fmla="val 3750"/>
            </a:avLst>
          </a:prstGeom>
          <a:solidFill>
            <a:srgbClr val="221E15"/>
          </a:solidFill>
          <a:ln w="9525">
            <a:solidFill>
              <a:srgbClr val="3A33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52444" y="201168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dashboard.jsx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3552444" y="2487168"/>
            <a:ext cx="2039112" cy="0"/>
          </a:xfrm>
          <a:prstGeom prst="line">
            <a:avLst/>
          </a:prstGeom>
          <a:noFill/>
          <a:ln w="12700">
            <a:solidFill>
              <a:srgbClr val="332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52444" y="2578608"/>
            <a:ext cx="208483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identical logic as a live React component. See it aim, don't just read about it.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53328" y="1783080"/>
            <a:ext cx="2587752" cy="2194560"/>
          </a:xfrm>
          <a:prstGeom prst="roundRect">
            <a:avLst>
              <a:gd name="adj" fmla="val 3750"/>
            </a:avLst>
          </a:prstGeom>
          <a:solidFill>
            <a:srgbClr val="221E15"/>
          </a:solidFill>
          <a:ln w="9525">
            <a:solidFill>
              <a:srgbClr val="3A33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27648" y="201168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AI layer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6327648" y="2487168"/>
            <a:ext cx="2039112" cy="0"/>
          </a:xfrm>
          <a:prstGeom prst="line">
            <a:avLst/>
          </a:prstGeom>
          <a:noFill/>
          <a:ln w="12700">
            <a:solidFill>
              <a:srgbClr val="332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2578608"/>
            <a:ext cx="208483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parses specs and gives a calibrated, cited second opinion. A deterministic stub stands in with no key.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2062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— one consultant persona, end to end.    ·    MIT-licensed    ·    </a:t>
            </a:r>
            <a:pPr algn="ctr" indent="0" marL="0">
              <a:buNone/>
            </a:pPr>
            <a:r>
              <a:rPr lang="en-US" sz="1250" b="1" dirty="0">
                <a:solidFill>
                  <a:srgbClr val="F3B9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github.com/PKusch/tendere-ai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3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554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6E6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TENDERE AI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0" y="485546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6E6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760720" y="548640"/>
            <a:ext cx="4389120" cy="4389120"/>
          </a:xfrm>
          <a:prstGeom prst="ellipse">
            <a:avLst/>
          </a:prstGeom>
          <a:solidFill>
            <a:srgbClr val="16130E">
              <a:alpha val="0"/>
            </a:srgbClr>
          </a:solidFill>
          <a:ln w="12700">
            <a:solidFill>
              <a:srgbClr val="E9A23B">
                <a:alpha val="2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91072" y="1078992"/>
            <a:ext cx="3328416" cy="3328416"/>
          </a:xfrm>
          <a:prstGeom prst="ellipse">
            <a:avLst/>
          </a:prstGeom>
          <a:solidFill>
            <a:srgbClr val="16130E">
              <a:alpha val="0"/>
            </a:srgbClr>
          </a:solidFill>
          <a:ln w="12700">
            <a:solidFill>
              <a:srgbClr val="E9A23B">
                <a:alpha val="3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0" y="1554480"/>
            <a:ext cx="2377440" cy="2377440"/>
          </a:xfrm>
          <a:prstGeom prst="ellipse">
            <a:avLst/>
          </a:prstGeom>
          <a:solidFill>
            <a:srgbClr val="16130E">
              <a:alpha val="0"/>
            </a:srgbClr>
          </a:solidFill>
          <a:ln w="15875">
            <a:solidFill>
              <a:srgbClr val="E9A23B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78040" y="1965960"/>
            <a:ext cx="1554480" cy="1554480"/>
          </a:xfrm>
          <a:prstGeom prst="ellipse">
            <a:avLst/>
          </a:prstGeom>
          <a:solidFill>
            <a:srgbClr val="16130E">
              <a:alpha val="0"/>
            </a:srgbClr>
          </a:solidFill>
          <a:ln w="19050">
            <a:solidFill>
              <a:srgbClr val="E9A23B">
                <a:alpha val="6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0" y="2286000"/>
            <a:ext cx="914400" cy="914400"/>
          </a:xfrm>
          <a:prstGeom prst="ellipse">
            <a:avLst/>
          </a:prstGeom>
          <a:solidFill>
            <a:srgbClr val="16130E">
              <a:alpha val="0"/>
            </a:srgbClr>
          </a:solidFill>
          <a:ln w="22225">
            <a:solidFill>
              <a:srgbClr val="E9A23B">
                <a:alpha val="7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86700" y="2674620"/>
            <a:ext cx="137160" cy="13716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AIM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676656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it a role. </a:t>
            </a:r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it aim.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530352" y="187452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07008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a role spec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30352" y="2441448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07008" y="2441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bench, aimed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30352" y="3008376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07008" y="30083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plan, paced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48640" y="3712464"/>
            <a:ext cx="5120640" cy="0"/>
          </a:xfrm>
          <a:prstGeom prst="line">
            <a:avLst/>
          </a:prstGeom>
          <a:noFill/>
          <a:ln w="12700">
            <a:solidFill>
              <a:srgbClr val="332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8404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B9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github.com/PKusch/tendere-ai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530352" y="44074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Tendere AI</a:t>
            </a:r>
            <a:pPr indent="0" marL="0">
              <a:buNone/>
            </a:pPr>
            <a:r>
              <a:rPr lang="en-US" sz="1600" i="1" dirty="0">
                <a:solidFill>
                  <a:srgbClr val="9A93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stop ranking, start aiming.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0352" y="48554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6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Patti Kusch   ·   MIT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Tendere AI</dc:title>
  <dc:subject>PptxGenJS Presentation</dc:subject>
  <dc:creator>Patti Kusch</dc:creator>
  <cp:lastModifiedBy>Patti Kusch</cp:lastModifiedBy>
  <cp:revision>1</cp:revision>
  <dcterms:created xsi:type="dcterms:W3CDTF">2026-07-03T17:27:51Z</dcterms:created>
  <dcterms:modified xsi:type="dcterms:W3CDTF">2026-07-03T17:27:51Z</dcterms:modified>
</cp:coreProperties>
</file>